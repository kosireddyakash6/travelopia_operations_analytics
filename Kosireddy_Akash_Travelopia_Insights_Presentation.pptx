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15950"/>
            <a:ext cx="9144000" cy="911225"/>
          </a:xfrm>
        </p:spPr>
        <p:txBody>
          <a:bodyPr>
            <a:normAutofit/>
          </a:bodyPr>
          <a:p>
            <a:r>
              <a:rPr lang="en-US" sz="4890"/>
              <a:t>Key Business Insights</a:t>
            </a:r>
            <a:endParaRPr lang="en-US" sz="489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6460" y="1942465"/>
            <a:ext cx="10572750" cy="4033520"/>
          </a:xfrm>
        </p:spPr>
        <p:txBody>
          <a:bodyPr>
            <a:normAutofit fontScale="70000"/>
          </a:bodyPr>
          <a:p>
            <a:pPr marL="342900" indent="-342900" algn="l"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>
                <a:sym typeface="+mn-ea"/>
              </a:rPr>
              <a:t>Business travelers</a:t>
            </a:r>
            <a:r>
              <a:rPr lang="en-US">
                <a:sym typeface="+mn-ea"/>
              </a:rPr>
              <a:t> show the </a:t>
            </a:r>
            <a:r>
              <a:rPr lang="en-US" b="1">
                <a:sym typeface="+mn-ea"/>
              </a:rPr>
              <a:t>high satisfaction(~80% +)</a:t>
            </a:r>
            <a:r>
              <a:rPr lang="en-US">
                <a:sym typeface="+mn-ea"/>
              </a:rPr>
              <a:t>, while </a:t>
            </a:r>
            <a:r>
              <a:rPr lang="en-US" b="1">
                <a:sym typeface="+mn-ea"/>
              </a:rPr>
              <a:t>Economy &amp; Economy Plus</a:t>
            </a:r>
            <a:r>
              <a:rPr lang="en-US">
                <a:sym typeface="+mn-ea"/>
              </a:rPr>
              <a:t> segments report comparatively lower satisfaction.</a:t>
            </a:r>
            <a:endParaRPr lang="en-US"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Age group 33 - 46  records the higher satisfaction;passengers </a:t>
            </a:r>
            <a:r>
              <a:rPr lang="en-US" b="1"/>
              <a:t>below 20 &amp; above 60+</a:t>
            </a:r>
            <a:r>
              <a:rPr lang="en-US"/>
              <a:t> are the least satisfied.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/>
              <a:t>Pre-flight services</a:t>
            </a:r>
            <a:r>
              <a:rPr lang="en-US"/>
              <a:t>(online booking, online boarding are the </a:t>
            </a:r>
            <a:r>
              <a:rPr lang="en-US" b="1"/>
              <a:t>weakest touchpoints</a:t>
            </a:r>
            <a:r>
              <a:rPr lang="en-US"/>
              <a:t>,consistently scoring lower than in-flight services.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/>
              <a:t>Satisfaction declines steadily as arrival delay increases</a:t>
            </a:r>
            <a:r>
              <a:rPr lang="en-US"/>
              <a:t>,indicating strong sensitivity to operational delays.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/>
              <a:t>Business/Loyal customers tolerate minor delays slightly better</a:t>
            </a:r>
            <a:r>
              <a:rPr lang="en-US"/>
              <a:t>, but satisfaction drops sharply once delaythresholds are crossed.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/>
              <a:t>Short-haul routes dominate passenger volume</a:t>
            </a:r>
            <a:r>
              <a:rPr lang="en-US"/>
              <a:t>, making even small service issues operationally high-impact.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Satisfaction improves with</a:t>
            </a:r>
            <a:r>
              <a:rPr lang="en-US" b="1"/>
              <a:t> longer route distances</a:t>
            </a:r>
            <a:r>
              <a:rPr lang="en-US"/>
              <a:t>, while </a:t>
            </a:r>
            <a:r>
              <a:rPr lang="en-US" b="1"/>
              <a:t>short-haul passengers are least tolerant of delays.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5925"/>
            <a:ext cx="10515600" cy="1295400"/>
          </a:xfrm>
        </p:spPr>
        <p:txBody>
          <a:bodyPr/>
          <a:p>
            <a:pPr algn="ctr"/>
            <a:r>
              <a:rPr lang="en-US"/>
              <a:t>Strategic Business Recommendations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12340"/>
            <a:ext cx="10515600" cy="4298950"/>
          </a:xfrm>
        </p:spPr>
        <p:txBody>
          <a:bodyPr>
            <a:normAutofit/>
          </a:bodyPr>
          <a:p>
            <a:r>
              <a:rPr lang="en-US" altLang="en-US" sz="1800" b="1">
                <a:cs typeface="+mn-lt"/>
              </a:rPr>
              <a:t>Standardize </a:t>
            </a:r>
            <a:r>
              <a:rPr lang="en-US" altLang="en-US" sz="1800" b="1">
                <a:latin typeface="+mj-lt"/>
                <a:cs typeface="+mj-lt"/>
              </a:rPr>
              <a:t>and strengthen core services</a:t>
            </a:r>
            <a:r>
              <a:rPr lang="en-US" altLang="en-US" sz="1800">
                <a:latin typeface="+mj-lt"/>
                <a:cs typeface="+mj-lt"/>
              </a:rPr>
              <a:t> (cleanliness, seat comfort, boarding experience) for Economy segments to close the satisfaction gap.</a:t>
            </a:r>
            <a:endParaRPr lang="en-US" altLang="en-US" sz="1800">
              <a:latin typeface="+mj-lt"/>
              <a:cs typeface="+mj-lt"/>
            </a:endParaRPr>
          </a:p>
          <a:p>
            <a:r>
              <a:rPr lang="en-US" altLang="en-US" sz="1800" b="1">
                <a:latin typeface="+mj-lt"/>
                <a:cs typeface="+mj-lt"/>
              </a:rPr>
              <a:t>Prioritize pre-flight experience improvements</a:t>
            </a:r>
            <a:r>
              <a:rPr lang="en-US" altLang="en-US" sz="1800">
                <a:latin typeface="+mj-lt"/>
                <a:cs typeface="+mj-lt"/>
              </a:rPr>
              <a:t> (booking flow, boarding efficiency) to reduce early-journey dissatisfaction.</a:t>
            </a:r>
            <a:endParaRPr lang="en-US" altLang="en-US" sz="1800">
              <a:latin typeface="+mj-lt"/>
              <a:cs typeface="+mj-lt"/>
            </a:endParaRPr>
          </a:p>
          <a:p>
            <a:r>
              <a:rPr lang="en-US" altLang="en-US" sz="1800" b="1">
                <a:latin typeface="+mj-lt"/>
                <a:cs typeface="+mj-lt"/>
              </a:rPr>
              <a:t>Maintain average arrival delays below 15 minutes</a:t>
            </a:r>
            <a:r>
              <a:rPr lang="en-US" altLang="en-US" sz="1800">
                <a:latin typeface="+mj-lt"/>
                <a:cs typeface="+mj-lt"/>
              </a:rPr>
              <a:t> to preserve acceptable satisfaction levels.</a:t>
            </a:r>
            <a:endParaRPr lang="en-US" altLang="en-US" sz="1800">
              <a:latin typeface="+mj-lt"/>
              <a:cs typeface="+mj-lt"/>
            </a:endParaRPr>
          </a:p>
          <a:p>
            <a:r>
              <a:rPr lang="en-US" altLang="en-US" sz="1800" b="1">
                <a:latin typeface="+mj-lt"/>
                <a:cs typeface="+mj-lt"/>
              </a:rPr>
              <a:t>Target medium-delay zones first</a:t>
            </a:r>
            <a:r>
              <a:rPr lang="en-US" altLang="en-US" sz="1800">
                <a:latin typeface="+mj-lt"/>
                <a:cs typeface="+mj-lt"/>
              </a:rPr>
              <a:t>—small operational improvements here can positively impact a large passenger base.</a:t>
            </a:r>
            <a:endParaRPr lang="en-US" altLang="en-US" sz="1800">
              <a:latin typeface="+mj-lt"/>
              <a:cs typeface="+mj-lt"/>
            </a:endParaRPr>
          </a:p>
          <a:p>
            <a:r>
              <a:rPr lang="en-US" altLang="en-US" sz="1800" b="1">
                <a:latin typeface="+mj-lt"/>
                <a:cs typeface="+mj-lt"/>
              </a:rPr>
              <a:t>Protect high-performing services</a:t>
            </a:r>
            <a:r>
              <a:rPr lang="en-US" altLang="en-US" sz="1800">
                <a:latin typeface="+mj-lt"/>
                <a:cs typeface="+mj-lt"/>
              </a:rPr>
              <a:t> on long-haul routes while addressing delay communication and turnaround efficiency.</a:t>
            </a:r>
            <a:endParaRPr lang="en-US" altLang="en-US" sz="1800">
              <a:latin typeface="+mj-lt"/>
              <a:cs typeface="+mj-lt"/>
            </a:endParaRPr>
          </a:p>
          <a:p>
            <a:r>
              <a:rPr lang="en-US" altLang="en-US" sz="1800" b="1">
                <a:latin typeface="+mj-lt"/>
                <a:cs typeface="+mj-lt"/>
              </a:rPr>
              <a:t>Optimize short-haul operations</a:t>
            </a:r>
            <a:r>
              <a:rPr lang="en-US" altLang="en-US" sz="1800">
                <a:latin typeface="+mj-lt"/>
                <a:cs typeface="+mj-lt"/>
              </a:rPr>
              <a:t> with faster boarding, deboarding, and proactive delay communication to maximize satisfaction impact.</a:t>
            </a:r>
            <a:endParaRPr lang="en-US" altLang="en-US" sz="1800">
              <a:latin typeface="+mj-lt"/>
              <a:cs typeface="+mj-lt"/>
            </a:endParaRPr>
          </a:p>
          <a:p>
            <a:endParaRPr lang="en-US" sz="18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WPS Presentation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Georgia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Kosireddy Akash</cp:lastModifiedBy>
  <cp:revision>3</cp:revision>
  <dcterms:created xsi:type="dcterms:W3CDTF">2025-07-23T00:59:00Z</dcterms:created>
  <dcterms:modified xsi:type="dcterms:W3CDTF">2026-01-16T15:55:26Z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BBA6FBAA1DC142F78587EBE873E2575D_11</vt:lpwstr>
  </property>
  <property fmtid="{D5CDD505-2E9C-101B-9397-08002B2CF9AE}" pid="3" name="KSOProductBuildVer">
    <vt:lpwstr>1033-12.2.0.23196</vt:lpwstr>
  </property>
</Properties>
</file>